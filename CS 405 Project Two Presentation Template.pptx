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hyperlink" Target="https://www.youtube.com/watch?v=svkgT7fPG4w"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4.xml"/><Relationship Id="rId7" Type="http://schemas.openxmlformats.org/officeDocument/2006/relationships/hyperlink" Target="https://www.graphitas.co.uk/blog/how-to-upload-an-unlisted-video-to-youtube/"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www.youtube.com/watch?v=3uk4CU7uobM" TargetMode="External"/><Relationship Id="rId5" Type="http://schemas.openxmlformats.org/officeDocument/2006/relationships/hyperlink" Target="https://www.youtube.com/watch?v=Dxhxvg__zUQ" TargetMode="External"/><Relationship Id="rId4" Type="http://schemas.openxmlformats.org/officeDocument/2006/relationships/hyperlink" Target="https://web.archive.org/web/20210413134404/https:/www.mcafee.com/blog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lt1"/>
              </a:buClr>
              <a:buSzPts val="1850"/>
              <a:buNone/>
            </a:pPr>
            <a:r>
              <a:rPr lang="en-US" sz="1850" dirty="0">
                <a:hlinkClick r:id="rId4"/>
              </a:rPr>
              <a:t>Security Policy Presentation</a:t>
            </a:r>
            <a:endParaRPr sz="1850"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Zachary Locke</a:t>
            </a:r>
            <a:endParaRPr sz="1850" i="1" dirty="0"/>
          </a:p>
          <a:p>
            <a:pPr marL="0" lvl="0" indent="0" algn="l" rtl="0">
              <a:lnSpc>
                <a:spcPct val="70000"/>
              </a:lnSpc>
              <a:spcBef>
                <a:spcPts val="1000"/>
              </a:spcBef>
              <a:spcAft>
                <a:spcPts val="0"/>
              </a:spcAft>
              <a:buSzPts val="1850"/>
              <a:buNone/>
            </a:pPr>
            <a:r>
              <a:rPr lang="en-US" sz="1850" dirty="0"/>
              <a:t>Course: CS 405 Secure Coding</a:t>
            </a:r>
          </a:p>
          <a:p>
            <a:pPr marL="0" lvl="0" indent="0" algn="l" rtl="0">
              <a:lnSpc>
                <a:spcPct val="70000"/>
              </a:lnSpc>
              <a:spcBef>
                <a:spcPts val="1000"/>
              </a:spcBef>
              <a:spcAft>
                <a:spcPts val="0"/>
              </a:spcAft>
              <a:buSzPts val="1850"/>
              <a:buNone/>
            </a:pPr>
            <a:r>
              <a:rPr lang="en-US" sz="1850" i="1" dirty="0"/>
              <a:t>Project Two – Security Policy Presentation</a:t>
            </a:r>
          </a:p>
          <a:p>
            <a:pPr marL="0" lvl="0" indent="0" algn="l" rtl="0">
              <a:lnSpc>
                <a:spcPct val="70000"/>
              </a:lnSpc>
              <a:spcBef>
                <a:spcPts val="1000"/>
              </a:spcBef>
              <a:spcAft>
                <a:spcPts val="0"/>
              </a:spcAft>
              <a:buSzPts val="1850"/>
              <a:buNone/>
            </a:pPr>
            <a:r>
              <a:rPr lang="en-US" sz="1850" i="1" dirty="0"/>
              <a:t>Date: 02/28/2026</a:t>
            </a:r>
            <a:endParaRPr sz="1850" i="1" dirty="0"/>
          </a:p>
        </p:txBody>
      </p:sp>
      <p:pic>
        <p:nvPicPr>
          <p:cNvPr id="146" name="Google Shape;146;p1" descr="Green Pace logo"/>
          <p:cNvPicPr preferRelativeResize="0"/>
          <p:nvPr/>
        </p:nvPicPr>
        <p:blipFill>
          <a:blip r:embed="rId5">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06"/>
    </mc:Choice>
    <mc:Fallback xmlns="">
      <p:transition spd="slow" advTm="280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263674" y="1817277"/>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600" dirty="0"/>
              <a:t>This is a protection-in-intensity method since no security measure is foolproof. The attacker seeks the perfect way to target (records robbery, fraud, account takeover, disrupting services), so the policy is a combination of prevention, detection, and reaction throughout the whole </a:t>
            </a:r>
            <a:r>
              <a:rPr lang="en-US" sz="1600" dirty="0" err="1"/>
              <a:t>DevSecOps</a:t>
            </a:r>
            <a:r>
              <a:rPr lang="en-US" sz="1600" dirty="0"/>
              <a:t> lifecycle. The idea is to minimize the chance of exploitation, minimize the impact if a measure fails, and detect suspicious behaviors as early as possible.</a:t>
            </a:r>
            <a:endParaRPr sz="1600"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869371" y="3060804"/>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8054"/>
    </mc:Choice>
    <mc:Fallback xmlns="">
      <p:transition spd="slow" advTm="3805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62500" lnSpcReduction="20000"/>
          </a:bodyPr>
          <a:lstStyle/>
          <a:p>
            <a:pPr marL="228600" lvl="0" indent="0" algn="l" rtl="0">
              <a:lnSpc>
                <a:spcPct val="107916"/>
              </a:lnSpc>
              <a:spcBef>
                <a:spcPts val="0"/>
              </a:spcBef>
              <a:spcAft>
                <a:spcPts val="0"/>
              </a:spcAft>
              <a:buSzPts val="1800"/>
              <a:buNone/>
            </a:pPr>
            <a:r>
              <a:rPr lang="en-US" sz="2000" dirty="0">
                <a:solidFill>
                  <a:srgbClr val="FFFFFF"/>
                </a:solidFill>
              </a:rPr>
              <a:t>This threat matrix is based on what we should prioritize first based on two variables: impact and likelihood. The highest-priority threats are those with a high likelihood of occurring and a high impact, particularly those that involve broad compromises, such as injection attacks, authentication failures, and memory corruption. These lower-priority threats are monitored, but once high-priority threats are controlled, they are handled.</a:t>
            </a:r>
            <a:endParaRPr dirty="0"/>
          </a:p>
        </p:txBody>
      </p:sp>
      <p:graphicFrame>
        <p:nvGraphicFramePr>
          <p:cNvPr id="161" name="Google Shape;161;p4" descr="Alt text required"/>
          <p:cNvGraphicFramePr/>
          <p:nvPr>
            <p:extLst>
              <p:ext uri="{D42A27DB-BD31-4B8C-83A1-F6EECF244321}">
                <p14:modId xmlns:p14="http://schemas.microsoft.com/office/powerpoint/2010/main" val="2173410009"/>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Likely</a:t>
                      </a:r>
                      <a:endParaRPr sz="185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SQL injection, missing authorization checks, memory safety defects, secrets exposure, and insecure logging.</a:t>
                      </a:r>
                      <a:endParaRPr sz="185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Priority</a:t>
                      </a:r>
                      <a:endParaRPr sz="185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Exception handling weaknesses, unsafe string handling, weak input validation, and edge cases.</a:t>
                      </a:r>
                      <a:endParaRPr sz="185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Low priority</a:t>
                      </a:r>
                      <a:endParaRPr sz="185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Minor reliability issues, non-security coding style problems, and low-impact informational defects.</a:t>
                      </a:r>
                      <a:endParaRPr sz="185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Unlikely</a:t>
                      </a:r>
                      <a:endParaRPr lang="en-US" sz="185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850" u="none" strike="noStrike" cap="none" dirty="0">
                          <a:solidFill>
                            <a:srgbClr val="FFD966"/>
                          </a:solidFill>
                        </a:rPr>
                        <a:t>Supply-chain tampering, stolen signing keys, insider abuse, and zero-days.</a:t>
                      </a:r>
                      <a:endParaRPr lang="en-US" sz="185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311"/>
    </mc:Choice>
    <mc:Fallback xmlns="">
      <p:transition spd="slow" advTm="5331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67128"/>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Validate Input Data: STD-001, STD-002, STD-003, STD-004, STD-006</a:t>
            </a:r>
          </a:p>
          <a:p>
            <a:pPr marL="228600" lvl="0" indent="-228600" algn="l" rtl="0">
              <a:lnSpc>
                <a:spcPct val="90000"/>
              </a:lnSpc>
              <a:spcBef>
                <a:spcPts val="0"/>
              </a:spcBef>
              <a:spcAft>
                <a:spcPts val="0"/>
              </a:spcAft>
              <a:buClr>
                <a:schemeClr val="lt1"/>
              </a:buClr>
              <a:buSzPts val="2200"/>
              <a:buChar char="•"/>
            </a:pPr>
            <a:r>
              <a:rPr lang="en-US" dirty="0"/>
              <a:t>Heed Compiler Warnings: STD-001, STD-002, STD-003, STD-005, STD-006</a:t>
            </a:r>
          </a:p>
          <a:p>
            <a:pPr marL="228600" lvl="0" indent="-228600" algn="l" rtl="0">
              <a:lnSpc>
                <a:spcPct val="90000"/>
              </a:lnSpc>
              <a:spcBef>
                <a:spcPts val="0"/>
              </a:spcBef>
              <a:spcAft>
                <a:spcPts val="0"/>
              </a:spcAft>
              <a:buClr>
                <a:schemeClr val="lt1"/>
              </a:buClr>
              <a:buSzPts val="2200"/>
              <a:buChar char="•"/>
            </a:pPr>
            <a:r>
              <a:rPr lang="en-US" dirty="0"/>
              <a:t>Least Common Mechanism: STD-009, STD-010</a:t>
            </a:r>
          </a:p>
          <a:p>
            <a:pPr marL="228600" lvl="0" indent="-228600" algn="l" rtl="0">
              <a:lnSpc>
                <a:spcPct val="90000"/>
              </a:lnSpc>
              <a:spcBef>
                <a:spcPts val="0"/>
              </a:spcBef>
              <a:spcAft>
                <a:spcPts val="0"/>
              </a:spcAft>
              <a:buClr>
                <a:schemeClr val="lt1"/>
              </a:buClr>
              <a:buSzPts val="2200"/>
              <a:buChar char="•"/>
            </a:pPr>
            <a:r>
              <a:rPr lang="en-US" dirty="0"/>
              <a:t>Fail Securely: STD-001, STD-004, STD-005, STD-006, STD-007, STD-010</a:t>
            </a:r>
          </a:p>
          <a:p>
            <a:pPr marL="228600" lvl="0" indent="-228600" algn="l" rtl="0">
              <a:lnSpc>
                <a:spcPct val="90000"/>
              </a:lnSpc>
              <a:spcBef>
                <a:spcPts val="0"/>
              </a:spcBef>
              <a:spcAft>
                <a:spcPts val="0"/>
              </a:spcAft>
              <a:buClr>
                <a:schemeClr val="lt1"/>
              </a:buClr>
              <a:buSzPts val="2200"/>
              <a:buChar char="•"/>
            </a:pPr>
            <a:r>
              <a:rPr lang="en-US" dirty="0"/>
              <a:t>Defense in Depth: STD-003, STD-006, STD-007, STD-009, STD-010</a:t>
            </a:r>
          </a:p>
          <a:p>
            <a:pPr marL="228600" lvl="0" indent="-228600" algn="l" rtl="0">
              <a:lnSpc>
                <a:spcPct val="90000"/>
              </a:lnSpc>
              <a:spcBef>
                <a:spcPts val="0"/>
              </a:spcBef>
              <a:spcAft>
                <a:spcPts val="0"/>
              </a:spcAft>
              <a:buClr>
                <a:schemeClr val="lt1"/>
              </a:buClr>
              <a:buSzPts val="2200"/>
              <a:buChar char="•"/>
            </a:pPr>
            <a:r>
              <a:rPr lang="en-US" dirty="0"/>
              <a:t>Least Privilege: STD-001, STD-003, STD-004, STD-005, STD-008, STD-009</a:t>
            </a:r>
          </a:p>
          <a:p>
            <a:pPr marL="228600" lvl="0" indent="-228600" algn="l" rtl="0">
              <a:lnSpc>
                <a:spcPct val="90000"/>
              </a:lnSpc>
              <a:spcBef>
                <a:spcPts val="0"/>
              </a:spcBef>
              <a:spcAft>
                <a:spcPts val="0"/>
              </a:spcAft>
              <a:buClr>
                <a:schemeClr val="lt1"/>
              </a:buClr>
              <a:buSzPts val="2200"/>
              <a:buChar char="•"/>
            </a:pPr>
            <a:r>
              <a:rPr lang="en-US" dirty="0"/>
              <a:t>Keep It Simple: STD-001, STD-003, STD-004, STD-006, STD-010</a:t>
            </a:r>
          </a:p>
          <a:p>
            <a:pPr marL="228600" lvl="0" indent="-228600" algn="l" rtl="0">
              <a:lnSpc>
                <a:spcPct val="90000"/>
              </a:lnSpc>
              <a:spcBef>
                <a:spcPts val="0"/>
              </a:spcBef>
              <a:spcAft>
                <a:spcPts val="0"/>
              </a:spcAft>
              <a:buClr>
                <a:schemeClr val="lt1"/>
              </a:buClr>
              <a:buSzPts val="2200"/>
              <a:buChar char="•"/>
            </a:pPr>
            <a:r>
              <a:rPr lang="en-US" dirty="0"/>
              <a:t>Separation of Duties: STD-008, STD-010</a:t>
            </a:r>
          </a:p>
          <a:p>
            <a:pPr marL="228600" lvl="0" indent="-228600" algn="l" rtl="0">
              <a:lnSpc>
                <a:spcPct val="90000"/>
              </a:lnSpc>
              <a:spcBef>
                <a:spcPts val="0"/>
              </a:spcBef>
              <a:spcAft>
                <a:spcPts val="0"/>
              </a:spcAft>
              <a:buClr>
                <a:schemeClr val="lt1"/>
              </a:buClr>
              <a:buSzPts val="2200"/>
              <a:buChar char="•"/>
            </a:pPr>
            <a:r>
              <a:rPr lang="en-US" dirty="0"/>
              <a:t>Secure Defaults: STD-004, STD-008, STD-009, STD-010</a:t>
            </a:r>
          </a:p>
          <a:p>
            <a:pPr marL="228600" lvl="0" indent="-228600" algn="l" rtl="0">
              <a:lnSpc>
                <a:spcPct val="90000"/>
              </a:lnSpc>
              <a:spcBef>
                <a:spcPts val="0"/>
              </a:spcBef>
              <a:spcAft>
                <a:spcPts val="0"/>
              </a:spcAft>
              <a:buClr>
                <a:schemeClr val="lt1"/>
              </a:buClr>
              <a:buSzPts val="2200"/>
              <a:buChar char="•"/>
            </a:pPr>
            <a:r>
              <a:rPr lang="en-US" dirty="0"/>
              <a:t>Adopt a Secure Coding Standard: STD-002 (applied across STD-001 through STD-010, CERT-style rules and automated checks)</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630"/>
    </mc:Choice>
    <mc:Fallback xmlns="">
      <p:transition spd="slow" advTm="5063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dirty="0"/>
              <a:t>Bounds checking and safe container access</a:t>
            </a:r>
          </a:p>
          <a:p>
            <a:pPr marL="228600" lvl="0" indent="-228600" algn="l" rtl="0">
              <a:lnSpc>
                <a:spcPct val="90000"/>
              </a:lnSpc>
              <a:spcBef>
                <a:spcPts val="0"/>
              </a:spcBef>
              <a:spcAft>
                <a:spcPts val="0"/>
              </a:spcAft>
              <a:buClr>
                <a:schemeClr val="lt1"/>
              </a:buClr>
              <a:buSzPts val="2000"/>
              <a:buChar char="•"/>
            </a:pPr>
            <a:r>
              <a:rPr lang="en-US" dirty="0"/>
              <a:t>Integer range validation and overflow prevention</a:t>
            </a:r>
          </a:p>
          <a:p>
            <a:pPr marL="228600" lvl="0" indent="-228600" algn="l" rtl="0">
              <a:lnSpc>
                <a:spcPct val="90000"/>
              </a:lnSpc>
              <a:spcBef>
                <a:spcPts val="0"/>
              </a:spcBef>
              <a:spcAft>
                <a:spcPts val="0"/>
              </a:spcAft>
              <a:buClr>
                <a:schemeClr val="lt1"/>
              </a:buClr>
              <a:buSzPts val="2000"/>
              <a:buChar char="•"/>
            </a:pPr>
            <a:r>
              <a:rPr lang="en-US" dirty="0"/>
              <a:t>Safe string handling to prevent buffer issues</a:t>
            </a:r>
          </a:p>
          <a:p>
            <a:pPr marL="228600" lvl="0" indent="-228600" algn="l" rtl="0">
              <a:lnSpc>
                <a:spcPct val="90000"/>
              </a:lnSpc>
              <a:spcBef>
                <a:spcPts val="0"/>
              </a:spcBef>
              <a:spcAft>
                <a:spcPts val="0"/>
              </a:spcAft>
              <a:buClr>
                <a:schemeClr val="lt1"/>
              </a:buClr>
              <a:buSzPts val="2000"/>
              <a:buChar char="•"/>
            </a:pPr>
            <a:r>
              <a:rPr lang="en-US" dirty="0"/>
              <a:t>SQL injection prevention with parameterization</a:t>
            </a:r>
          </a:p>
          <a:p>
            <a:pPr marL="228600" lvl="0" indent="-228600" algn="l" rtl="0">
              <a:lnSpc>
                <a:spcPct val="90000"/>
              </a:lnSpc>
              <a:spcBef>
                <a:spcPts val="0"/>
              </a:spcBef>
              <a:spcAft>
                <a:spcPts val="0"/>
              </a:spcAft>
              <a:buClr>
                <a:schemeClr val="lt1"/>
              </a:buClr>
              <a:buSzPts val="2000"/>
              <a:buChar char="•"/>
            </a:pPr>
            <a:r>
              <a:rPr lang="en-US" dirty="0"/>
              <a:t>Memory protection through RAII and safe ownership</a:t>
            </a:r>
          </a:p>
          <a:p>
            <a:pPr marL="228600" lvl="0" indent="-228600" algn="l" rtl="0">
              <a:lnSpc>
                <a:spcPct val="90000"/>
              </a:lnSpc>
              <a:spcBef>
                <a:spcPts val="0"/>
              </a:spcBef>
              <a:spcAft>
                <a:spcPts val="0"/>
              </a:spcAft>
              <a:buClr>
                <a:schemeClr val="lt1"/>
              </a:buClr>
              <a:buSzPts val="2000"/>
              <a:buChar char="•"/>
            </a:pPr>
            <a:r>
              <a:rPr lang="en-US" dirty="0"/>
              <a:t>Correct use of assertions (not for security validation)</a:t>
            </a:r>
          </a:p>
          <a:p>
            <a:pPr marL="228600" lvl="0" indent="-228600" algn="l" rtl="0">
              <a:lnSpc>
                <a:spcPct val="90000"/>
              </a:lnSpc>
              <a:spcBef>
                <a:spcPts val="0"/>
              </a:spcBef>
              <a:spcAft>
                <a:spcPts val="0"/>
              </a:spcAft>
              <a:buClr>
                <a:schemeClr val="lt1"/>
              </a:buClr>
              <a:buSzPts val="2000"/>
              <a:buChar char="•"/>
            </a:pPr>
            <a:r>
              <a:rPr lang="en-US" dirty="0"/>
              <a:t>Exceptions handled safely (no silent swallowing)</a:t>
            </a:r>
          </a:p>
          <a:p>
            <a:pPr marL="228600" lvl="0" indent="-228600" algn="l" rtl="0">
              <a:lnSpc>
                <a:spcPct val="90000"/>
              </a:lnSpc>
              <a:spcBef>
                <a:spcPts val="0"/>
              </a:spcBef>
              <a:spcAft>
                <a:spcPts val="0"/>
              </a:spcAft>
              <a:buClr>
                <a:schemeClr val="lt1"/>
              </a:buClr>
              <a:buSzPts val="2000"/>
              <a:buChar char="•"/>
            </a:pPr>
            <a:r>
              <a:rPr lang="en-US" dirty="0"/>
              <a:t>Authorization enforcement for sensitive actions</a:t>
            </a:r>
          </a:p>
          <a:p>
            <a:pPr marL="228600" lvl="0" indent="-228600" algn="l" rtl="0">
              <a:lnSpc>
                <a:spcPct val="90000"/>
              </a:lnSpc>
              <a:spcBef>
                <a:spcPts val="0"/>
              </a:spcBef>
              <a:spcAft>
                <a:spcPts val="0"/>
              </a:spcAft>
              <a:buClr>
                <a:schemeClr val="lt1"/>
              </a:buClr>
              <a:buSzPts val="2000"/>
              <a:buChar char="•"/>
            </a:pPr>
            <a:r>
              <a:rPr lang="en-US" dirty="0"/>
              <a:t> Secret protection and encryption expectations</a:t>
            </a:r>
          </a:p>
          <a:p>
            <a:pPr marL="228600" lvl="0" indent="-228600" algn="l" rtl="0">
              <a:lnSpc>
                <a:spcPct val="90000"/>
              </a:lnSpc>
              <a:spcBef>
                <a:spcPts val="0"/>
              </a:spcBef>
              <a:spcAft>
                <a:spcPts val="0"/>
              </a:spcAft>
              <a:buClr>
                <a:schemeClr val="lt1"/>
              </a:buClr>
              <a:buSzPts val="2000"/>
              <a:buChar char="•"/>
            </a:pPr>
            <a:r>
              <a:rPr lang="en-US" dirty="0"/>
              <a:t>Secure logging: no sensitive leaks, support auditing and incident response</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Encryption at Rest: Protect stored data (disk, database, backups) with the use of complete-disk encryption and/or database encryption. This applies every time sensitive facts are written to a chronic garage, and the impact is decreased if the garage is stolen or accessed without authorization.</a:t>
            </a:r>
          </a:p>
          <a:p>
            <a:pPr marL="0" lvl="0" indent="0" algn="l" rtl="0">
              <a:lnSpc>
                <a:spcPct val="90000"/>
              </a:lnSpc>
              <a:spcBef>
                <a:spcPts val="0"/>
              </a:spcBef>
              <a:spcAft>
                <a:spcPts val="0"/>
              </a:spcAft>
              <a:buClr>
                <a:schemeClr val="lt1"/>
              </a:buClr>
              <a:buSzPts val="2000"/>
              <a:buNone/>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Encryption in Flight: Protect data in transit using TLS/HTTPS and encrypted internal bearer connections. This applies to all communications that carry sensitive information or authentication tokens, which prevent interception or tampering.</a:t>
            </a:r>
          </a:p>
          <a:p>
            <a:pPr marL="0" lvl="0" indent="0" algn="l" rtl="0">
              <a:lnSpc>
                <a:spcPct val="90000"/>
              </a:lnSpc>
              <a:spcBef>
                <a:spcPts val="0"/>
              </a:spcBef>
              <a:spcAft>
                <a:spcPts val="0"/>
              </a:spcAft>
              <a:buClr>
                <a:schemeClr val="lt1"/>
              </a:buClr>
              <a:buSzPts val="2000"/>
              <a:buNone/>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Encryption in Use: Minimize publicity by minimizing plaintext handling while processing records in memory, shielding secrets, restricting privilege levels, and using OS- and hardware-level security when available. This applies throughout execution whilst secrets and techniques and sensitive values are loaded and used.</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234"/>
    </mc:Choice>
    <mc:Fallback xmlns="">
      <p:transition spd="slow" advTm="1423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1850" dirty="0"/>
              <a:t>Authentication: The process of verifying the identity of a user or system. This is done through strong passwords, multi-factor authentication, service credentials, and session management. This is for both users and any system they use. The idea is to keep unauthorized access.</a:t>
            </a:r>
          </a:p>
          <a:p>
            <a:pPr marL="228600" lvl="0" indent="-228600" algn="l" rtl="0">
              <a:lnSpc>
                <a:spcPct val="90000"/>
              </a:lnSpc>
              <a:spcBef>
                <a:spcPts val="0"/>
              </a:spcBef>
              <a:spcAft>
                <a:spcPts val="0"/>
              </a:spcAft>
              <a:buClr>
                <a:schemeClr val="lt1"/>
              </a:buClr>
              <a:buSzPts val="2400"/>
              <a:buChar char="•"/>
            </a:pPr>
            <a:endParaRPr lang="en-US" sz="1850" dirty="0"/>
          </a:p>
          <a:p>
            <a:pPr marL="228600" lvl="0" indent="-228600" algn="l" rtl="0">
              <a:lnSpc>
                <a:spcPct val="90000"/>
              </a:lnSpc>
              <a:spcBef>
                <a:spcPts val="0"/>
              </a:spcBef>
              <a:spcAft>
                <a:spcPts val="0"/>
              </a:spcAft>
              <a:buClr>
                <a:schemeClr val="lt1"/>
              </a:buClr>
              <a:buSzPts val="2400"/>
              <a:buChar char="•"/>
            </a:pPr>
            <a:r>
              <a:rPr lang="en-US" sz="1850" dirty="0"/>
              <a:t>Authorization: The process that verifies the user/system's privileges (role-based access, privileges such as 'DELETE_ACCOUNT', and server-side verification). This is relevant for user privileges, database updates, and adding user accounts.</a:t>
            </a:r>
          </a:p>
          <a:p>
            <a:pPr marL="228600" lvl="0" indent="-228600" algn="l" rtl="0">
              <a:lnSpc>
                <a:spcPct val="90000"/>
              </a:lnSpc>
              <a:spcBef>
                <a:spcPts val="0"/>
              </a:spcBef>
              <a:spcAft>
                <a:spcPts val="0"/>
              </a:spcAft>
              <a:buClr>
                <a:schemeClr val="lt1"/>
              </a:buClr>
              <a:buSzPts val="2400"/>
              <a:buChar char="•"/>
            </a:pPr>
            <a:endParaRPr lang="en-US" sz="1850" dirty="0"/>
          </a:p>
          <a:p>
            <a:pPr marL="228600" lvl="0" indent="-228600" algn="l" rtl="0">
              <a:lnSpc>
                <a:spcPct val="90000"/>
              </a:lnSpc>
              <a:spcBef>
                <a:spcPts val="0"/>
              </a:spcBef>
              <a:spcAft>
                <a:spcPts val="0"/>
              </a:spcAft>
              <a:buClr>
                <a:schemeClr val="lt1"/>
              </a:buClr>
              <a:buSzPts val="2400"/>
              <a:buChar char="•"/>
            </a:pPr>
            <a:r>
              <a:rPr lang="en-US" sz="1850" dirty="0"/>
              <a:t>Accounting: The process that provides an audit trail of all user/system activity, including who, when, and where it occurred. This includes tamper-resistant logs for user authentication, sensitive operations, database updates, file access, and other activities; the logs should not contain sensitive information, etc.</a:t>
            </a:r>
            <a:endParaRPr sz="185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747"/>
    </mc:Choice>
    <mc:Fallback xmlns="">
      <p:transition spd="slow" advTm="4274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850" dirty="0"/>
              <a:t>Unit tests support secure coding by proving correct behavior under normal conditions and under attacker-like inputs. Positive tests verify expected valid behavior. Negative tests confirm the system rejects invalid inputs safely, fails securely, and does not leak sensitive information.</a:t>
            </a:r>
          </a:p>
          <a:p>
            <a:pPr marL="0" lvl="0" indent="0" algn="l" rtl="0">
              <a:lnSpc>
                <a:spcPct val="90000"/>
              </a:lnSpc>
              <a:spcBef>
                <a:spcPts val="1000"/>
              </a:spcBef>
              <a:spcAft>
                <a:spcPts val="0"/>
              </a:spcAft>
              <a:buSzPts val="1800"/>
              <a:buNone/>
            </a:pPr>
            <a:r>
              <a:rPr lang="en-US" sz="1850" dirty="0"/>
              <a:t>• Out-of-range indexes are rejected and do not crash the program</a:t>
            </a:r>
          </a:p>
          <a:p>
            <a:pPr marL="0" lvl="0" indent="0" algn="l" rtl="0">
              <a:lnSpc>
                <a:spcPct val="90000"/>
              </a:lnSpc>
              <a:spcBef>
                <a:spcPts val="1000"/>
              </a:spcBef>
              <a:spcAft>
                <a:spcPts val="0"/>
              </a:spcAft>
              <a:buSzPts val="1800"/>
              <a:buNone/>
            </a:pPr>
            <a:r>
              <a:rPr lang="en-US" sz="1850" dirty="0"/>
              <a:t>• Unsafe string input does not overflow buffers</a:t>
            </a:r>
          </a:p>
          <a:p>
            <a:pPr marL="0" lvl="0" indent="0" algn="l" rtl="0">
              <a:lnSpc>
                <a:spcPct val="90000"/>
              </a:lnSpc>
              <a:spcBef>
                <a:spcPts val="1000"/>
              </a:spcBef>
              <a:spcAft>
                <a:spcPts val="0"/>
              </a:spcAft>
              <a:buSzPts val="1800"/>
              <a:buNone/>
            </a:pPr>
            <a:r>
              <a:rPr lang="en-US" sz="1850" dirty="0"/>
              <a:t>• SQL queries remain parameterized (no string concatenation injection)</a:t>
            </a:r>
          </a:p>
          <a:p>
            <a:pPr marL="0" lvl="0" indent="0" algn="l" rtl="0">
              <a:lnSpc>
                <a:spcPct val="90000"/>
              </a:lnSpc>
              <a:spcBef>
                <a:spcPts val="1000"/>
              </a:spcBef>
              <a:spcAft>
                <a:spcPts val="0"/>
              </a:spcAft>
              <a:buSzPts val="1800"/>
              <a:buNone/>
            </a:pPr>
            <a:r>
              <a:rPr lang="en-US" sz="1850" dirty="0"/>
              <a:t>• Unauthorized actions are blocked even if the request is crafted manually</a:t>
            </a:r>
          </a:p>
          <a:p>
            <a:pPr marL="0" lvl="0" indent="0" algn="l" rtl="0">
              <a:lnSpc>
                <a:spcPct val="90000"/>
              </a:lnSpc>
              <a:spcBef>
                <a:spcPts val="1000"/>
              </a:spcBef>
              <a:spcAft>
                <a:spcPts val="0"/>
              </a:spcAft>
              <a:buSzPts val="1800"/>
              <a:buNone/>
            </a:pPr>
            <a:r>
              <a:rPr lang="en-US" sz="1850" dirty="0"/>
              <a:t>• Logs do not contain passwords/tokens, and errors to users stay generic</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955"/>
    </mc:Choice>
    <mc:Fallback xmlns="">
      <p:transition spd="slow" advTm="5095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488"/>
    </mc:Choice>
    <mc:Fallback xmlns="">
      <p:transition spd="slow" advTm="3048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685800" lvl="1" indent="-228600" algn="l" rtl="0">
              <a:lnSpc>
                <a:spcPct val="90000"/>
              </a:lnSpc>
              <a:spcBef>
                <a:spcPts val="0"/>
              </a:spcBef>
              <a:spcAft>
                <a:spcPts val="0"/>
              </a:spcAft>
              <a:buClr>
                <a:schemeClr val="lt1"/>
              </a:buClr>
              <a:buSzPts val="2000"/>
              <a:buChar char="•"/>
            </a:pPr>
            <a:r>
              <a:rPr lang="en-US" sz="2200" dirty="0"/>
              <a:t>The </a:t>
            </a:r>
            <a:r>
              <a:rPr lang="en-US" sz="2200" dirty="0" err="1"/>
              <a:t>DevSecOps</a:t>
            </a:r>
            <a:r>
              <a:rPr lang="en-US" sz="2200" dirty="0"/>
              <a:t> pipeline builds security into every step: planning,/designing requirements with threat in mind, running automated checks during build, validating with testing, monitoring in production, and reporting incidents under better control.</a:t>
            </a:r>
          </a:p>
          <a:p>
            <a:pPr marL="685800" lvl="1" indent="-228600" algn="l" rtl="0">
              <a:lnSpc>
                <a:spcPct val="90000"/>
              </a:lnSpc>
              <a:spcBef>
                <a:spcPts val="0"/>
              </a:spcBef>
              <a:spcAft>
                <a:spcPts val="0"/>
              </a:spcAft>
              <a:buClr>
                <a:schemeClr val="lt1"/>
              </a:buClr>
              <a:buSzPts val="2000"/>
              <a:buChar char="•"/>
            </a:pPr>
            <a:endParaRPr lang="en-US" sz="2200" dirty="0"/>
          </a:p>
          <a:p>
            <a:pPr marL="685800" lvl="1" indent="-228600" algn="l" rtl="0">
              <a:lnSpc>
                <a:spcPct val="90000"/>
              </a:lnSpc>
              <a:spcBef>
                <a:spcPts val="0"/>
              </a:spcBef>
              <a:spcAft>
                <a:spcPts val="0"/>
              </a:spcAft>
              <a:buClr>
                <a:schemeClr val="lt1"/>
              </a:buClr>
              <a:buSzPts val="2000"/>
              <a:buChar char="•"/>
            </a:pPr>
            <a:r>
              <a:rPr lang="en-US" sz="2200" dirty="0"/>
              <a:t>In the world of building software, we rely on static analysis tools like Visual Studio’s Code Analysis, Clang-Tidy, SonarQube, and </a:t>
            </a:r>
            <a:r>
              <a:rPr lang="en-US" sz="2200" dirty="0" err="1"/>
              <a:t>CodeQL</a:t>
            </a:r>
            <a:r>
              <a:rPr lang="en-US" sz="2200" dirty="0"/>
              <a:t>/</a:t>
            </a:r>
            <a:r>
              <a:rPr lang="en-US" sz="2200" dirty="0" err="1"/>
              <a:t>Semgrep</a:t>
            </a:r>
            <a:r>
              <a:rPr lang="en-US" sz="2200" dirty="0"/>
              <a:t>, as applicable, to quickly detect policy violations like insecure indexing, string handling, authorization, SQL injection, poor exception handling, and secret leakage into logs.</a:t>
            </a:r>
          </a:p>
          <a:p>
            <a:pPr marL="685800" lvl="1" indent="-228600" algn="l" rtl="0">
              <a:lnSpc>
                <a:spcPct val="90000"/>
              </a:lnSpc>
              <a:spcBef>
                <a:spcPts val="0"/>
              </a:spcBef>
              <a:spcAft>
                <a:spcPts val="0"/>
              </a:spcAft>
              <a:buClr>
                <a:schemeClr val="lt1"/>
              </a:buClr>
              <a:buSzPts val="2000"/>
              <a:buChar char="•"/>
            </a:pPr>
            <a:endParaRPr lang="en-US" sz="2200" dirty="0"/>
          </a:p>
          <a:p>
            <a:pPr marL="685800" lvl="1" indent="-228600" algn="l" rtl="0">
              <a:lnSpc>
                <a:spcPct val="90000"/>
              </a:lnSpc>
              <a:spcBef>
                <a:spcPts val="0"/>
              </a:spcBef>
              <a:spcAft>
                <a:spcPts val="0"/>
              </a:spcAft>
              <a:buClr>
                <a:schemeClr val="lt1"/>
              </a:buClr>
              <a:buSzPts val="2000"/>
              <a:buChar char="•"/>
            </a:pPr>
            <a:r>
              <a:rPr lang="en-US" sz="2200" dirty="0"/>
              <a:t>With respect to validation and testing, we make use of unit tests and integration tests that behave similarly to runtime sanitizers like </a:t>
            </a:r>
            <a:r>
              <a:rPr lang="en-US" sz="2200" dirty="0" err="1"/>
              <a:t>AddressSanitizer</a:t>
            </a:r>
            <a:r>
              <a:rPr lang="en-US" sz="2200" dirty="0"/>
              <a:t>, </a:t>
            </a:r>
            <a:r>
              <a:rPr lang="en-US" sz="2200" dirty="0" err="1"/>
              <a:t>UndefinedBehaviorSanitizer</a:t>
            </a:r>
            <a:r>
              <a:rPr lang="en-US" sz="2200" dirty="0"/>
              <a:t>, and </a:t>
            </a:r>
            <a:r>
              <a:rPr lang="en-US" sz="2200" dirty="0" err="1"/>
              <a:t>LeakSanitizer</a:t>
            </a:r>
            <a:r>
              <a:rPr lang="en-US" sz="2200" dirty="0"/>
              <a:t>. The objective is to detect memory protection violations, overflow, and other undefined behavior before we ship the product.</a:t>
            </a:r>
          </a:p>
          <a:p>
            <a:pPr marL="685800" lvl="1" indent="-228600" algn="l" rtl="0">
              <a:lnSpc>
                <a:spcPct val="90000"/>
              </a:lnSpc>
              <a:spcBef>
                <a:spcPts val="0"/>
              </a:spcBef>
              <a:spcAft>
                <a:spcPts val="0"/>
              </a:spcAft>
              <a:buClr>
                <a:schemeClr val="lt1"/>
              </a:buClr>
              <a:buSzPts val="2000"/>
              <a:buChar char="•"/>
            </a:pPr>
            <a:endParaRPr lang="en-US" sz="2200" dirty="0"/>
          </a:p>
          <a:p>
            <a:pPr marL="685800" lvl="1" indent="-228600" algn="l" rtl="0">
              <a:lnSpc>
                <a:spcPct val="90000"/>
              </a:lnSpc>
              <a:spcBef>
                <a:spcPts val="0"/>
              </a:spcBef>
              <a:spcAft>
                <a:spcPts val="0"/>
              </a:spcAft>
              <a:buClr>
                <a:schemeClr val="lt1"/>
              </a:buClr>
              <a:buSzPts val="2000"/>
              <a:buChar char="•"/>
            </a:pPr>
            <a:r>
              <a:rPr lang="en-US" sz="2200" dirty="0"/>
              <a:t>Finally, during the release, deployment, and production phases, centralized logging and monitoring solutions like SIEMs/log monitoring solutions with notification rules come into the picture, all while keeping the data secure.</a:t>
            </a:r>
          </a:p>
          <a:p>
            <a:pPr marL="685800" lvl="1" indent="-228600" algn="l" rtl="0">
              <a:lnSpc>
                <a:spcPct val="90000"/>
              </a:lnSpc>
              <a:spcBef>
                <a:spcPts val="0"/>
              </a:spcBef>
              <a:spcAft>
                <a:spcPts val="0"/>
              </a:spcAft>
              <a:buClr>
                <a:schemeClr val="lt1"/>
              </a:buClr>
              <a:buSzPts val="2000"/>
              <a:buChar char="•"/>
            </a:pPr>
            <a:endParaRPr lang="en-US" sz="2200" dirty="0"/>
          </a:p>
          <a:p>
            <a:pPr marL="685800" lvl="1" indent="-228600" algn="l" rtl="0">
              <a:lnSpc>
                <a:spcPct val="90000"/>
              </a:lnSpc>
              <a:spcBef>
                <a:spcPts val="0"/>
              </a:spcBef>
              <a:spcAft>
                <a:spcPts val="0"/>
              </a:spcAft>
              <a:buClr>
                <a:schemeClr val="lt1"/>
              </a:buClr>
              <a:buSzPts val="2000"/>
              <a:buChar char="•"/>
            </a:pPr>
            <a:r>
              <a:rPr lang="en-US" sz="2200" dirty="0"/>
              <a:t>These tools work together as "defense in depth": static analysis prevents common problems from merging, sanitizer catches runtime defects missed by static checking, and monitoring ensures that if something is missed, we still detect and respond.</a:t>
            </a:r>
          </a:p>
          <a:p>
            <a:pPr marL="685800" lvl="1" indent="-228600" algn="l" rtl="0">
              <a:lnSpc>
                <a:spcPct val="90000"/>
              </a:lnSpc>
              <a:spcBef>
                <a:spcPts val="0"/>
              </a:spcBef>
              <a:spcAft>
                <a:spcPts val="0"/>
              </a:spcAft>
              <a:buClr>
                <a:schemeClr val="lt1"/>
              </a:buClr>
              <a:buSzPts val="2000"/>
              <a:buChar char="•"/>
            </a:pPr>
            <a:endParaRPr lang="en-US" sz="1850" dirty="0"/>
          </a:p>
          <a:p>
            <a:pPr marL="685800" lvl="1" indent="-228600" algn="l" rtl="0">
              <a:lnSpc>
                <a:spcPct val="90000"/>
              </a:lnSpc>
              <a:spcBef>
                <a:spcPts val="0"/>
              </a:spcBef>
              <a:spcAft>
                <a:spcPts val="0"/>
              </a:spcAft>
              <a:buClr>
                <a:schemeClr val="lt1"/>
              </a:buClr>
              <a:buSzPts val="2000"/>
              <a:buChar char="•"/>
            </a:pPr>
            <a:endParaRPr sz="185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5946"/>
    </mc:Choice>
    <mc:Fallback xmlns="">
      <p:transition spd="slow" advTm="6594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000"/>
              <a:buChar char="•"/>
            </a:pPr>
            <a:r>
              <a:rPr lang="en-US" sz="1850" dirty="0"/>
              <a:t>This policy, if implemented, would address the most critical issues, such as SQL injection, missing authorization checks, memory safety, string security, and secret leaks via logs. The general idea of the payoff is that there would be fewer ways to exploit the code, fewer production issues, and quicker audits since the code would be controlled and repeatable. If the code isn’t implemented, the idea is that the issues would compound, security patterns would become more widespread, fixes would become more costly, and a single exploit could result in data loss, account compromises, or outages.</a:t>
            </a:r>
          </a:p>
          <a:p>
            <a:pPr marL="228600" lvl="0" indent="-228600" algn="l" rtl="0">
              <a:lnSpc>
                <a:spcPct val="90000"/>
              </a:lnSpc>
              <a:spcBef>
                <a:spcPts val="0"/>
              </a:spcBef>
              <a:spcAft>
                <a:spcPts val="0"/>
              </a:spcAft>
              <a:buClr>
                <a:schemeClr val="lt1"/>
              </a:buClr>
              <a:buSzPts val="2000"/>
              <a:buChar char="•"/>
            </a:pPr>
            <a:endParaRPr lang="en-US" sz="1850" dirty="0"/>
          </a:p>
          <a:p>
            <a:pPr marL="228600" lvl="0" indent="-228600" algn="l" rtl="0">
              <a:lnSpc>
                <a:spcPct val="90000"/>
              </a:lnSpc>
              <a:spcBef>
                <a:spcPts val="0"/>
              </a:spcBef>
              <a:spcAft>
                <a:spcPts val="0"/>
              </a:spcAft>
              <a:buClr>
                <a:schemeClr val="lt1"/>
              </a:buClr>
              <a:buSzPts val="2000"/>
              <a:buChar char="•"/>
            </a:pPr>
            <a:r>
              <a:rPr lang="en-US" sz="1850" dirty="0"/>
              <a:t>This approach is best used for prevention, early detection, static analysis, secure coding, and sanitization. The major issues with the approach would be that tools would not catch context-specific logic flaws, and developers would bypass checks if the gates are not enforced in the CI environment. The best way to address these issues would be to have the Green Pace implement the security checks as a must-pass gate for the code to be merged or released, as well as to tune the rules to reduce false positive rates, in addition to supporting the policy with constant monitoring to catch issues if the prevention approach fails to detect anything. </a:t>
            </a:r>
            <a:endParaRPr sz="185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456"/>
    </mc:Choice>
    <mc:Fallback xmlns="">
      <p:transition spd="slow" advTm="5545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1143000" lvl="2" indent="-228600" algn="l" rtl="0">
              <a:lnSpc>
                <a:spcPct val="90000"/>
              </a:lnSpc>
              <a:spcBef>
                <a:spcPts val="0"/>
              </a:spcBef>
              <a:spcAft>
                <a:spcPts val="0"/>
              </a:spcAft>
              <a:buClr>
                <a:schemeClr val="lt1"/>
              </a:buClr>
              <a:buSzPts val="1800"/>
              <a:buChar char="•"/>
            </a:pPr>
            <a:r>
              <a:rPr lang="en-US" sz="1600" dirty="0"/>
              <a:t>Security checks to be non-optional in CI: Utilize SAST tools like SonarQube, clang-tidy, </a:t>
            </a:r>
            <a:r>
              <a:rPr lang="en-US" sz="1600" dirty="0" err="1"/>
              <a:t>CodeQL</a:t>
            </a:r>
            <a:r>
              <a:rPr lang="en-US" sz="1600" dirty="0"/>
              <a:t>, </a:t>
            </a:r>
            <a:r>
              <a:rPr lang="en-US" sz="1600" dirty="0" err="1"/>
              <a:t>semgrep</a:t>
            </a:r>
            <a:r>
              <a:rPr lang="en-US" sz="1600" dirty="0"/>
              <a:t>, etc., on every pull request, and prevent the merge if high-priority issues are detected.</a:t>
            </a:r>
          </a:p>
          <a:p>
            <a:pPr marL="1143000" lvl="2" indent="-228600" algn="l" rtl="0">
              <a:lnSpc>
                <a:spcPct val="90000"/>
              </a:lnSpc>
              <a:spcBef>
                <a:spcPts val="0"/>
              </a:spcBef>
              <a:spcAft>
                <a:spcPts val="0"/>
              </a:spcAft>
              <a:buClr>
                <a:schemeClr val="lt1"/>
              </a:buClr>
              <a:buSzPts val="1800"/>
              <a:buChar char="•"/>
            </a:pPr>
            <a:endParaRPr lang="en-US" sz="1600" dirty="0"/>
          </a:p>
          <a:p>
            <a:pPr marL="1143000" lvl="2" indent="-228600" algn="l" rtl="0">
              <a:lnSpc>
                <a:spcPct val="90000"/>
              </a:lnSpc>
              <a:spcBef>
                <a:spcPts val="0"/>
              </a:spcBef>
              <a:spcAft>
                <a:spcPts val="0"/>
              </a:spcAft>
              <a:buClr>
                <a:schemeClr val="lt1"/>
              </a:buClr>
              <a:buSzPts val="1800"/>
              <a:buChar char="•"/>
            </a:pPr>
            <a:r>
              <a:rPr lang="en-US" sz="1600" dirty="0"/>
              <a:t>Runtime checks to be implemented to ensure memory security: Utilize Address Sanitizer, Undefined Behavior Sanitizer, Leak Sanitizer, on unit/integration test flows of debug builds.</a:t>
            </a:r>
          </a:p>
          <a:p>
            <a:pPr marL="1143000" lvl="2" indent="-228600" algn="l" rtl="0">
              <a:lnSpc>
                <a:spcPct val="90000"/>
              </a:lnSpc>
              <a:spcBef>
                <a:spcPts val="0"/>
              </a:spcBef>
              <a:spcAft>
                <a:spcPts val="0"/>
              </a:spcAft>
              <a:buClr>
                <a:schemeClr val="lt1"/>
              </a:buClr>
              <a:buSzPts val="1800"/>
              <a:buChar char="•"/>
            </a:pPr>
            <a:endParaRPr lang="en-US" sz="1600" dirty="0"/>
          </a:p>
          <a:p>
            <a:pPr marL="1143000" lvl="2" indent="-228600" algn="l" rtl="0">
              <a:lnSpc>
                <a:spcPct val="90000"/>
              </a:lnSpc>
              <a:spcBef>
                <a:spcPts val="0"/>
              </a:spcBef>
              <a:spcAft>
                <a:spcPts val="0"/>
              </a:spcAft>
              <a:buClr>
                <a:schemeClr val="lt1"/>
              </a:buClr>
              <a:buSzPts val="1800"/>
              <a:buChar char="•"/>
            </a:pPr>
            <a:r>
              <a:rPr lang="en-US" sz="1600" dirty="0"/>
              <a:t>Tight security standards to be implemented for authorization, logging, etc.: Server-side permission checks to be implemented, along with "no secrets in logs."</a:t>
            </a:r>
          </a:p>
          <a:p>
            <a:pPr marL="1143000" lvl="2" indent="-228600" algn="l" rtl="0">
              <a:lnSpc>
                <a:spcPct val="90000"/>
              </a:lnSpc>
              <a:spcBef>
                <a:spcPts val="0"/>
              </a:spcBef>
              <a:spcAft>
                <a:spcPts val="0"/>
              </a:spcAft>
              <a:buClr>
                <a:schemeClr val="lt1"/>
              </a:buClr>
              <a:buSzPts val="1800"/>
              <a:buChar char="•"/>
            </a:pPr>
            <a:endParaRPr lang="en-US" sz="1600" dirty="0"/>
          </a:p>
          <a:p>
            <a:pPr marL="1143000" lvl="2" indent="-228600" algn="l" rtl="0">
              <a:lnSpc>
                <a:spcPct val="90000"/>
              </a:lnSpc>
              <a:spcBef>
                <a:spcPts val="0"/>
              </a:spcBef>
              <a:spcAft>
                <a:spcPts val="0"/>
              </a:spcAft>
              <a:buClr>
                <a:schemeClr val="lt1"/>
              </a:buClr>
              <a:buSzPts val="1800"/>
              <a:buChar char="•"/>
            </a:pPr>
            <a:r>
              <a:rPr lang="en-US" sz="1600" dirty="0"/>
              <a:t>Supply chain security to be implemented: Supply chain checks to be implemented, which include dependency scanning, signed releases, etc.</a:t>
            </a:r>
          </a:p>
          <a:p>
            <a:pPr marL="1143000" lvl="2" indent="-228600" algn="l" rtl="0">
              <a:lnSpc>
                <a:spcPct val="90000"/>
              </a:lnSpc>
              <a:spcBef>
                <a:spcPts val="0"/>
              </a:spcBef>
              <a:spcAft>
                <a:spcPts val="0"/>
              </a:spcAft>
              <a:buClr>
                <a:schemeClr val="lt1"/>
              </a:buClr>
              <a:buSzPts val="1800"/>
              <a:buChar char="•"/>
            </a:pPr>
            <a:endParaRPr lang="en-US" sz="1600" dirty="0"/>
          </a:p>
          <a:p>
            <a:pPr marL="1143000" lvl="2" indent="-228600" algn="l" rtl="0">
              <a:lnSpc>
                <a:spcPct val="90000"/>
              </a:lnSpc>
              <a:spcBef>
                <a:spcPts val="0"/>
              </a:spcBef>
              <a:spcAft>
                <a:spcPts val="0"/>
              </a:spcAft>
              <a:buClr>
                <a:schemeClr val="lt1"/>
              </a:buClr>
              <a:buSzPts val="1800"/>
              <a:buChar char="•"/>
            </a:pPr>
            <a:r>
              <a:rPr lang="en-US" sz="1600" dirty="0"/>
              <a:t>Monitoring to be operationalized: Thresholds to be implemented to detect repeated failures/suspicious login attempts, etc., along with feedback on new rules/tests to be implemented to prevent regression.</a:t>
            </a:r>
            <a:endParaRPr sz="16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430"/>
    </mc:Choice>
    <mc:Fallback xmlns="">
      <p:transition spd="slow" advTm="5843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The policy is most effective when the standards are enforced automatically by the CI process, along with runtime testing, monitoring, and incident response capabilities. This way, security becomes repeatable and measurable, rather than being left up to the judgment of individuals, as the organization is prepared for audits as well as potential attacks.</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168"/>
    </mc:Choice>
    <mc:Fallback xmlns="">
      <p:transition spd="slow" advTm="2716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sz="1850" dirty="0"/>
              <a:t>McAfee. (n.d.). McAfee Blogs. Retrieved February 28, 2026, from </a:t>
            </a:r>
            <a:r>
              <a:rPr lang="en-US" sz="1850" dirty="0">
                <a:hlinkClick r:id="rId4"/>
              </a:rPr>
              <a:t>https://web.archive.org/web/20210413134404/https://www.mcafee.com/blogs</a:t>
            </a:r>
            <a:endParaRPr lang="en-US" sz="1850" dirty="0"/>
          </a:p>
          <a:p>
            <a:pPr marL="228600" lvl="0" indent="-228600" algn="l" rtl="0">
              <a:lnSpc>
                <a:spcPct val="90000"/>
              </a:lnSpc>
              <a:spcBef>
                <a:spcPts val="0"/>
              </a:spcBef>
              <a:spcAft>
                <a:spcPts val="0"/>
              </a:spcAft>
              <a:buClr>
                <a:schemeClr val="lt1"/>
              </a:buClr>
              <a:buSzPts val="2200"/>
              <a:buChar char="•"/>
            </a:pPr>
            <a:endParaRPr lang="en-US" sz="1850" dirty="0"/>
          </a:p>
          <a:p>
            <a:pPr marL="228600" lvl="0" indent="-228600" algn="l" rtl="0">
              <a:lnSpc>
                <a:spcPct val="90000"/>
              </a:lnSpc>
              <a:spcBef>
                <a:spcPts val="0"/>
              </a:spcBef>
              <a:spcAft>
                <a:spcPts val="0"/>
              </a:spcAft>
              <a:buClr>
                <a:schemeClr val="lt1"/>
              </a:buClr>
              <a:buSzPts val="2200"/>
              <a:buChar char="•"/>
            </a:pPr>
            <a:r>
              <a:rPr lang="en-US" sz="1850" dirty="0"/>
              <a:t>YouTube. (n.d.). What motivates hackers? [Video]. Retrieved February 28, 2026, from </a:t>
            </a:r>
            <a:r>
              <a:rPr lang="en-US" sz="1850" dirty="0">
                <a:hlinkClick r:id="rId5"/>
              </a:rPr>
              <a:t>https://www.youtube.com/watch?v=Dxhxvg__zUQ</a:t>
            </a:r>
            <a:endParaRPr lang="en-US" sz="1850" dirty="0"/>
          </a:p>
          <a:p>
            <a:pPr marL="228600" lvl="0" indent="-228600" algn="l" rtl="0">
              <a:lnSpc>
                <a:spcPct val="90000"/>
              </a:lnSpc>
              <a:spcBef>
                <a:spcPts val="0"/>
              </a:spcBef>
              <a:spcAft>
                <a:spcPts val="0"/>
              </a:spcAft>
              <a:buClr>
                <a:schemeClr val="lt1"/>
              </a:buClr>
              <a:buSzPts val="2200"/>
              <a:buChar char="•"/>
            </a:pPr>
            <a:endParaRPr lang="en-US" sz="1850" dirty="0"/>
          </a:p>
          <a:p>
            <a:pPr marL="228600" lvl="0" indent="-228600" algn="l" rtl="0">
              <a:lnSpc>
                <a:spcPct val="90000"/>
              </a:lnSpc>
              <a:spcBef>
                <a:spcPts val="0"/>
              </a:spcBef>
              <a:spcAft>
                <a:spcPts val="0"/>
              </a:spcAft>
              <a:buClr>
                <a:schemeClr val="lt1"/>
              </a:buClr>
              <a:buSzPts val="2200"/>
              <a:buChar char="•"/>
            </a:pPr>
            <a:r>
              <a:rPr lang="en-US" sz="1850" dirty="0"/>
              <a:t>YouTube. (n.d.). How to create voice-over narration for your PowerPoint presentation [Video]. Retrieved February 28, 2026, from </a:t>
            </a:r>
            <a:r>
              <a:rPr lang="en-US" sz="1850" dirty="0">
                <a:hlinkClick r:id="rId6"/>
              </a:rPr>
              <a:t>https://www.youtube.com/watch?v=3uk4CU7uobM</a:t>
            </a:r>
            <a:endParaRPr lang="en-US" sz="1850" dirty="0"/>
          </a:p>
          <a:p>
            <a:pPr marL="228600" lvl="0" indent="-228600" algn="l" rtl="0">
              <a:lnSpc>
                <a:spcPct val="90000"/>
              </a:lnSpc>
              <a:spcBef>
                <a:spcPts val="0"/>
              </a:spcBef>
              <a:spcAft>
                <a:spcPts val="0"/>
              </a:spcAft>
              <a:buClr>
                <a:schemeClr val="lt1"/>
              </a:buClr>
              <a:buSzPts val="2200"/>
              <a:buChar char="•"/>
            </a:pPr>
            <a:endParaRPr lang="en-US" sz="1850" dirty="0"/>
          </a:p>
          <a:p>
            <a:pPr marL="228600" lvl="0" indent="-228600" algn="l" rtl="0">
              <a:lnSpc>
                <a:spcPct val="90000"/>
              </a:lnSpc>
              <a:spcBef>
                <a:spcPts val="0"/>
              </a:spcBef>
              <a:spcAft>
                <a:spcPts val="0"/>
              </a:spcAft>
              <a:buClr>
                <a:schemeClr val="lt1"/>
              </a:buClr>
              <a:buSzPts val="2200"/>
              <a:buChar char="•"/>
            </a:pPr>
            <a:r>
              <a:rPr lang="en-US" sz="1850" dirty="0" err="1"/>
              <a:t>Graphitas</a:t>
            </a:r>
            <a:r>
              <a:rPr lang="en-US" sz="1850" dirty="0"/>
              <a:t>. (n.d.). How to upload an unlisted video to YouTube. Retrieved February 28, 2026, from </a:t>
            </a:r>
            <a:r>
              <a:rPr lang="en-US" sz="1850" dirty="0">
                <a:hlinkClick r:id="rId7"/>
              </a:rPr>
              <a:t>https://www.graphitas.co.uk/blog/how-to-upload-an-unlisted-video-to-youtube/</a:t>
            </a:r>
            <a:endParaRPr lang="en-US" sz="1850" dirty="0"/>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429"/>
    </mc:Choice>
    <mc:Fallback xmlns="">
      <p:transition spd="slow" advTm="1842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755</TotalTime>
  <Words>1674</Words>
  <Application>Microsoft Office PowerPoint</Application>
  <PresentationFormat>Widescreen</PresentationFormat>
  <Paragraphs>94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Locke, Zachary</cp:lastModifiedBy>
  <cp:revision>17</cp:revision>
  <dcterms:created xsi:type="dcterms:W3CDTF">2020-08-19T17:59:24Z</dcterms:created>
  <dcterms:modified xsi:type="dcterms:W3CDTF">2026-03-02T04:10:44Z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